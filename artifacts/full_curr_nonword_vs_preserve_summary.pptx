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y="6858000" cx="12191675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3" roundtripDataSignature="AMtx7mjnFi/K2NjBApzoD/V2OGFHw4j+3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DF3022A5-2F03-43B1-9A1E-EC3D3DE62A3C}">
  <a:tblStyle styleId="{DF3022A5-2F03-43B1-9A1E-EC3D3DE62A3C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fill>
          <a:solidFill>
            <a:srgbClr val="CFD7E7"/>
          </a:solidFill>
        </a:fill>
      </a:tcStyle>
    </a:band1H>
    <a:band2H>
      <a:tcTxStyle/>
    </a:band2H>
    <a:band1V>
      <a:tcTxStyle/>
      <a:tcStyle>
        <a:fill>
          <a:solidFill>
            <a:srgbClr val="CFD7E7"/>
          </a:solidFill>
        </a:fill>
      </a:tcStyle>
    </a:band1V>
    <a:band2V>
      <a:tcTxStyle/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customschemas.google.com/relationships/presentationmetadata" Target="metadata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1" name="Google Shape;101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9" name="Google Shape;109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 txBox="1"/>
          <p:nvPr/>
        </p:nvSpPr>
        <p:spPr>
          <a:xfrm>
            <a:off x="548640" y="320040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400" u="none" cap="none" strike="noStrike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Full Curriculum Comparison: nonword_only vs preserve</a:t>
            </a:r>
            <a:endParaRPr/>
          </a:p>
        </p:txBody>
      </p:sp>
      <p:sp>
        <p:nvSpPr>
          <p:cNvPr id="85" name="Google Shape;85;p1"/>
          <p:cNvSpPr txBox="1"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70C9"/>
                </a:solidFill>
                <a:latin typeface="Calibri"/>
                <a:ea typeface="Calibri"/>
                <a:cs typeface="Calibri"/>
                <a:sym typeface="Calibri"/>
              </a:rPr>
              <a:t>Plain-language summary of methods, results, and practical implications</a:t>
            </a:r>
            <a:endParaRPr/>
          </a:p>
        </p:txBody>
      </p:sp>
      <p:sp>
        <p:nvSpPr>
          <p:cNvPr id="86" name="Google Shape;86;p1"/>
          <p:cNvSpPr txBox="1"/>
          <p:nvPr/>
        </p:nvSpPr>
        <p:spPr>
          <a:xfrm>
            <a:off x="822960" y="1920240"/>
            <a:ext cx="10698600" cy="139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Scope: full curriculum runs with same seed (3407) and same split membership.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6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Comparison focus: real-data performance + synthetic coverage diagnostics.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2"/>
          <p:cNvSpPr txBox="1"/>
          <p:nvPr/>
        </p:nvSpPr>
        <p:spPr>
          <a:xfrm>
            <a:off x="548640" y="320040"/>
            <a:ext cx="11155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Methods</a:t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822960" y="1417320"/>
            <a:ext cx="10698600" cy="2616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Task: add CHAT morphosyntactic error labels to utterances; </a:t>
            </a:r>
            <a:endParaRPr sz="2400">
              <a:solidFill>
                <a:srgbClr val="24344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Why multiple splits: each split answers a different question.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eval_real/test_real = real TalkBank-like performance (closest to final use).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eval_coverage/test_coverage = synthetic label coverage (checks rare tags under balanced support).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This avoids over-trusting one metric from one data type.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3"/>
          <p:cNvSpPr txBox="1"/>
          <p:nvPr/>
        </p:nvSpPr>
        <p:spPr>
          <a:xfrm>
            <a:off x="548640" y="320040"/>
            <a:ext cx="1115568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What Changed Between The Two Runs</a:t>
            </a:r>
            <a:endParaRPr/>
          </a:p>
        </p:txBody>
      </p:sp>
      <p:sp>
        <p:nvSpPr>
          <p:cNvPr id="98" name="Google Shape;98;p3"/>
          <p:cNvSpPr txBox="1"/>
          <p:nvPr/>
        </p:nvSpPr>
        <p:spPr>
          <a:xfrm>
            <a:off x="822960" y="1417320"/>
            <a:ext cx="10698600" cy="3088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Everything else is matched: same seed, same rows per split, same curriculum stages.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Only difference is reconstruction handling in targets during training/evaluation packaging.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nonword_only: reconstruction markers only for nonword corrections [: target]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preserve: preserve CHAT reconstruction markers more broadly </a:t>
            </a: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[:+ target]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Why compare: test whether broader reconstruction supervision helps labeling quality.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4"/>
          <p:cNvSpPr txBox="1"/>
          <p:nvPr/>
        </p:nvSpPr>
        <p:spPr>
          <a:xfrm>
            <a:off x="548640" y="320040"/>
            <a:ext cx="11155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/>
          </a:p>
        </p:txBody>
      </p:sp>
      <p:sp>
        <p:nvSpPr>
          <p:cNvPr id="104" name="Google Shape;104;p4"/>
          <p:cNvSpPr txBox="1"/>
          <p:nvPr/>
        </p:nvSpPr>
        <p:spPr>
          <a:xfrm>
            <a:off x="594360" y="1005840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0070C9"/>
                </a:solidFill>
                <a:latin typeface="Calibri"/>
                <a:ea typeface="Calibri"/>
                <a:cs typeface="Calibri"/>
                <a:sym typeface="Calibri"/>
              </a:rPr>
              <a:t>micro-F1 and exact-match across the four requested splits</a:t>
            </a:r>
            <a:endParaRPr/>
          </a:p>
        </p:txBody>
      </p:sp>
      <p:graphicFrame>
        <p:nvGraphicFramePr>
          <p:cNvPr id="105" name="Google Shape;105;p4"/>
          <p:cNvGraphicFramePr/>
          <p:nvPr/>
        </p:nvGraphicFramePr>
        <p:xfrm>
          <a:off x="640080" y="164592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{DF3022A5-2F03-43B1-9A1E-EC3D3DE62A3C}</a:tableStyleId>
              </a:tblPr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694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Split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nonword_only F1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preserve F1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Delta (preserve - nonword)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nonword exact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preserve exact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94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eval_real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0.825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0.851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2E7D32"/>
                          </a:solidFill>
                        </a:rPr>
                        <a:t>+0.026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0.940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0.926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94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test_real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0.747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0.722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B71C1C"/>
                          </a:solidFill>
                        </a:rPr>
                        <a:t>-0.026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0.914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0.898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94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eval_coverage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0.914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0.915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243447"/>
                          </a:solidFill>
                        </a:rPr>
                        <a:t>+0.000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0.832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0.781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949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test_coverage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0.889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0.907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>
                          <a:solidFill>
                            <a:srgbClr val="2E7D32"/>
                          </a:solidFill>
                        </a:rPr>
                        <a:t>+0.017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0.822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300" u="none" cap="none" strike="noStrike"/>
                        <a:t>0.773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06" name="Google Shape;106;p4"/>
          <p:cNvSpPr txBox="1"/>
          <p:nvPr/>
        </p:nvSpPr>
        <p:spPr>
          <a:xfrm>
            <a:off x="685800" y="5394960"/>
            <a:ext cx="10972800" cy="10058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Readout: preserve helps on coverage splits; nonword_only is stronger on test_real (the primary final-use split).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8"/>
          <p:cNvSpPr txBox="1"/>
          <p:nvPr/>
        </p:nvSpPr>
        <p:spPr>
          <a:xfrm>
            <a:off x="548640" y="320040"/>
            <a:ext cx="11155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000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Mixed Test Set Score (test_real + test_coverage)</a:t>
            </a:r>
            <a:endParaRPr/>
          </a:p>
        </p:txBody>
      </p:sp>
      <p:sp>
        <p:nvSpPr>
          <p:cNvPr id="112" name="Google Shape;112;p8"/>
          <p:cNvSpPr txBox="1"/>
          <p:nvPr/>
        </p:nvSpPr>
        <p:spPr>
          <a:xfrm>
            <a:off x="594360" y="987552"/>
            <a:ext cx="10972800" cy="6400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>
                <a:solidFill>
                  <a:srgbClr val="0070C9"/>
                </a:solidFill>
                <a:latin typeface="Calibri"/>
                <a:ea typeface="Calibri"/>
                <a:cs typeface="Calibri"/>
                <a:sym typeface="Calibri"/>
              </a:rPr>
              <a:t>Secondary metric for supervisor reporting; mixes real + synthetic test rows.</a:t>
            </a:r>
            <a:endParaRPr/>
          </a:p>
        </p:txBody>
      </p:sp>
      <p:graphicFrame>
        <p:nvGraphicFramePr>
          <p:cNvPr id="113" name="Google Shape;113;p8"/>
          <p:cNvGraphicFramePr/>
          <p:nvPr/>
        </p:nvGraphicFramePr>
        <p:xfrm>
          <a:off x="822960" y="1691640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{DF3022A5-2F03-43B1-9A1E-EC3D3DE62A3C}</a:tableStyleId>
              </a:tblPr>
              <a:tblGrid>
                <a:gridCol w="2139700"/>
                <a:gridCol w="2139700"/>
                <a:gridCol w="2139700"/>
                <a:gridCol w="2139700"/>
                <a:gridCol w="2139700"/>
              </a:tblGrid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Mode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n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Exact Match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Micro-F1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1300" u="none" cap="none" strike="noStrike"/>
                        <a:t>Notes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nonword_only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1057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0.8817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0.8605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pooled test_real + test_coverage</a:t>
                      </a:r>
                      <a:endParaRPr/>
                    </a:p>
                  </a:txBody>
                  <a:tcPr marT="45725" marB="45725" marR="91450" marL="91450"/>
                </a:tc>
              </a:tr>
              <a:tr h="6400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preserve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1057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0.8543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0.8682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200" u="none" cap="none" strike="noStrike"/>
                        <a:t>pooled test_real + test_coverage</a:t>
                      </a:r>
                      <a:endParaRPr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14" name="Google Shape;114;p8"/>
          <p:cNvSpPr txBox="1"/>
          <p:nvPr/>
        </p:nvSpPr>
        <p:spPr>
          <a:xfrm>
            <a:off x="822960" y="3886200"/>
            <a:ext cx="10789800" cy="6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000">
                <a:solidFill>
                  <a:srgbClr val="2E7D32"/>
                </a:solidFill>
                <a:latin typeface="Calibri"/>
                <a:ea typeface="Calibri"/>
                <a:cs typeface="Calibri"/>
                <a:sym typeface="Calibri"/>
              </a:rPr>
              <a:t>Pooled micro-F1 delta (preserve - nonword_only): +0.0077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Interpretation: on this mixed test definition, preserve is slightly higher.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5F7FA"/>
        </a:solidFill>
      </p:bgPr>
    </p:bg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5"/>
          <p:cNvSpPr txBox="1"/>
          <p:nvPr/>
        </p:nvSpPr>
        <p:spPr>
          <a:xfrm>
            <a:off x="548640" y="320040"/>
            <a:ext cx="11155800" cy="615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400">
                <a:solidFill>
                  <a:srgbClr val="111F4D"/>
                </a:solidFill>
                <a:latin typeface="Calibri"/>
                <a:ea typeface="Calibri"/>
                <a:cs typeface="Calibri"/>
                <a:sym typeface="Calibri"/>
              </a:rPr>
              <a:t>Results</a:t>
            </a:r>
            <a:endParaRPr/>
          </a:p>
        </p:txBody>
      </p:sp>
      <p:sp>
        <p:nvSpPr>
          <p:cNvPr id="120" name="Google Shape;120;p5"/>
          <p:cNvSpPr txBox="1"/>
          <p:nvPr/>
        </p:nvSpPr>
        <p:spPr>
          <a:xfrm>
            <a:off x="822960" y="1554480"/>
            <a:ext cx="10698480" cy="4846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preserve learns seen-label synthetic coverage slightly better.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nonword_only generalizes better to real test data in this run (higher test_real micro-F1).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So broader reconstruction supervision is not a free win: it can help one objective and hurt another.</a:t>
            </a:r>
            <a:endParaRPr/>
          </a:p>
          <a:p>
            <a:pPr indent="0" lvl="0" marL="0" marR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243447"/>
                </a:solidFill>
                <a:latin typeface="Calibri"/>
                <a:ea typeface="Calibri"/>
                <a:cs typeface="Calibri"/>
                <a:sym typeface="Calibri"/>
              </a:rPr>
              <a:t>For deployment-oriented claims, prioritize real test split behavior over synthetic coverage gains.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48640" y="320040"/>
            <a:ext cx="111556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111F4D"/>
                </a:solidFill>
              </a:rPr>
              <a:t>Next Step: External Validation on New TalkBank Subsets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987552"/>
            <a:ext cx="109728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>
                <a:solidFill>
                  <a:srgbClr val="0070C9"/>
                </a:solidFill>
              </a:rPr>
              <a:t>This would strengthen the project from a controlled benchmark to a credible transfer-and-utility story.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645920"/>
            <a:ext cx="10698480" cy="4389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2300">
                <a:solidFill>
                  <a:srgbClr val="243447"/>
                </a:solidFill>
              </a:defRPr>
            </a:pPr>
            <a:r>
              <a:t>Evaluate the frozen model on two small unseen subsets drawn from other TalkBank corpora.</a:t>
            </a:r>
          </a:p>
          <a:p>
            <a:pPr>
              <a:spcAft>
                <a:spcPts val="800"/>
              </a:spcAft>
              <a:defRPr sz="2300">
                <a:solidFill>
                  <a:srgbClr val="243447"/>
                </a:solidFill>
              </a:defRPr>
            </a:pPr>
            <a:r>
              <a:t>Choose one subset that is relatively close to the current data and one that is more challenging, to show both robustness and limits.</a:t>
            </a:r>
          </a:p>
          <a:p>
            <a:pPr>
              <a:spcAft>
                <a:spcPts val="800"/>
              </a:spcAft>
              <a:defRPr sz="2300">
                <a:solidFill>
                  <a:srgbClr val="243447"/>
                </a:solidFill>
              </a:defRPr>
            </a:pPr>
            <a:r>
              <a:t>For each subset, create a compact manual gold sample and report exact-tag accuracy, micro-F1, and a short error analysis.</a:t>
            </a:r>
          </a:p>
          <a:p>
            <a:pPr>
              <a:spcAft>
                <a:spcPts val="800"/>
              </a:spcAft>
              <a:defRPr sz="2300">
                <a:solidFill>
                  <a:srgbClr val="243447"/>
                </a:solidFill>
              </a:defRPr>
            </a:pPr>
            <a:r>
              <a:t>Add a practical annotation check: how often are model suggestions accepted, edited, or rejected by a human annotator?</a:t>
            </a:r>
          </a:p>
          <a:p>
            <a:pPr>
              <a:spcAft>
                <a:spcPts val="800"/>
              </a:spcAft>
              <a:defRPr sz="2300">
                <a:solidFill>
                  <a:srgbClr val="243447"/>
                </a:solidFill>
              </a:defRPr>
            </a:pPr>
            <a:r>
              <a:t>Why this matters: it demonstrates transfer beyond the frozen experiment package and gives evidence for real annotation usefulness.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